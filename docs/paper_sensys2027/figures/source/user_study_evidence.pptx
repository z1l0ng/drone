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3cef0f0a9947db" /><Relationship Type="http://schemas.openxmlformats.org/officeDocument/2006/relationships/extended-properties" Target="/docProps/app.xml" Id="R1d54efdc5c4b4d60" /><Relationship Type="http://schemas.openxmlformats.org/officeDocument/2006/relationships/officeDocument" Target="/ppt/presentation.xml" Id="R5e2e5465eaaa4a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14e86915274847"/>
  </p:sldMasterIdLst>
  <p:notesMasterIdLst>
    <p:notesMasterId xmlns:r="http://schemas.openxmlformats.org/officeDocument/2006/relationships" r:id="R565c41de752d4eed"/>
  </p:notesMasterIdLst>
  <p:sldIdLst>
    <p:sldId xmlns:r="http://schemas.openxmlformats.org/officeDocument/2006/relationships" id="256" r:id="Rc26e303ba86b452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d219b592c94315" /><Relationship Type="http://schemas.openxmlformats.org/officeDocument/2006/relationships/slideMaster" Target="/ppt/slideMasters/slideMaster1.xml" Id="R4d14e86915274847" /><Relationship Type="http://schemas.openxmlformats.org/officeDocument/2006/relationships/notesMaster" Target="/ppt/notesMasters/notesMaster1.xml" Id="R565c41de752d4eed" /><Relationship Type="http://schemas.openxmlformats.org/officeDocument/2006/relationships/presProps" Target="/ppt/presProps.xml" Id="R24ab0ffd06694d96" /><Relationship Type="http://schemas.openxmlformats.org/officeDocument/2006/relationships/viewProps" Target="/ppt/viewProps.xml" Id="Ra42b4553fba246a5" /><Relationship Type="http://schemas.openxmlformats.org/officeDocument/2006/relationships/tableStyles" Target="/ppt/tableStyles.xml" Id="R54a0e0ad68964e79" /><Relationship Type="http://schemas.openxmlformats.org/officeDocument/2006/relationships/slide" Target="/ppt/slides/slide1.xml" Id="Rc26e303ba86b45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eff8a40a9f47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d19f2ff3b54946" /><Relationship Type="http://schemas.openxmlformats.org/officeDocument/2006/relationships/notesMaster" Target="/ppt/notesMasters/notesMaster1.xml" Id="R8492e80329114a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0d7772d79f47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dedd7093224f3d" /><Relationship Type="http://schemas.openxmlformats.org/officeDocument/2006/relationships/slideLayout" Target="/ppt/slideLayouts/slideLayout1.xml" Id="R56f20678973645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f20678973645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367b41fc14b2f" /><Relationship Type="http://schemas.openxmlformats.org/officeDocument/2006/relationships/notesSlide" Target="/ppt/notesSlides/notesSlide1.xml" Id="R5a1a04ec2dcf4e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5B81F215-1BFC-49E9-AE59-65D1CA61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6096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Participant-level controlled prompt evidence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9A87B9-2465-4DDB-82FA-CD19B2C3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7200"/>
            <a:ext cx="6572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trials produce saved audio, embedded/reference predictions, and auditable event logs.</a:t>
            </a:r>
          </a:p>
        </p:txBody>
      </p:sp>
      <p:sp>
        <p:nvSpPr>
          <p:cNvPr id="3" name="panel-a">
            <a:extLst xmlns:a="http://schemas.openxmlformats.org/drawingml/2006/main">
              <a:ext uri="{FF2B5EF4-FFF2-40B4-BE49-F238E27FC236}">
                <a16:creationId xmlns:a16="http://schemas.microsoft.com/office/drawing/2014/main" id="{C944B080-B873-4BDD-AD90-AB324C02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38200"/>
            <a:ext cx="2095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A. participant/session pipeline</a:t>
            </a:r>
          </a:p>
        </p:txBody>
      </p:sp>
      <p:sp>
        <p:nvSpPr>
          <p:cNvPr id="4" name="participant">
            <a:extLst xmlns:a="http://schemas.openxmlformats.org/drawingml/2006/main">
              <a:ext uri="{FF2B5EF4-FFF2-40B4-BE49-F238E27FC236}">
                <a16:creationId xmlns:a16="http://schemas.microsoft.com/office/drawing/2014/main" id="{07DF17CC-3EC2-4792-8EDE-2CF8845D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191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0478">
            <a:solidFill>
              <a:srgbClr val="4477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participant</a:t>
            </a:r>
          </a:p>
        </p:txBody>
      </p:sp>
      <p:sp>
        <p:nvSpPr>
          <p:cNvPr id="5" name="prompt-list">
            <a:extLst xmlns:a="http://schemas.openxmlformats.org/drawingml/2006/main">
              <a:ext uri="{FF2B5EF4-FFF2-40B4-BE49-F238E27FC236}">
                <a16:creationId xmlns:a16="http://schemas.microsoft.com/office/drawing/2014/main" id="{CF6A50DE-5D95-4372-AF17-09BB1791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200150"/>
            <a:ext cx="8191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0478">
            <a:solidFill>
              <a:srgbClr val="4477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</a:t>
            </a:r>
          </a:p>
          <a:p xmlns:a="http://schemas.openxmlformats.org/drawingml/2006/main">
            <a:r>
              <a:t>list</a:t>
            </a:r>
          </a:p>
        </p:txBody>
      </p:sp>
      <p:sp>
        <p:nvSpPr>
          <p:cNvPr id="6" name="embedded-capture">
            <a:extLst xmlns:a="http://schemas.openxmlformats.org/drawingml/2006/main">
              <a:ext uri="{FF2B5EF4-FFF2-40B4-BE49-F238E27FC236}">
                <a16:creationId xmlns:a16="http://schemas.microsoft.com/office/drawing/2014/main" id="{AEC7CBD7-6DDF-4969-BABB-089963BF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200150"/>
            <a:ext cx="9906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0478">
            <a:solidFill>
              <a:srgbClr val="228A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embedded</a:t>
            </a:r>
          </a:p>
          <a:p xmlns:a="http://schemas.openxmlformats.org/drawingml/2006/main">
            <a:r>
              <a:t>capture/infer</a:t>
            </a:r>
          </a:p>
        </p:txBody>
      </p:sp>
      <p:sp>
        <p:nvSpPr>
          <p:cNvPr id="7" name="saved-logs">
            <a:extLst xmlns:a="http://schemas.openxmlformats.org/drawingml/2006/main">
              <a:ext uri="{FF2B5EF4-FFF2-40B4-BE49-F238E27FC236}">
                <a16:creationId xmlns:a16="http://schemas.microsoft.com/office/drawing/2014/main" id="{7409E2FB-6921-4E0D-808B-8281B127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200150"/>
            <a:ext cx="914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0478">
            <a:solidFill>
              <a:srgbClr val="66A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saved audio</a:t>
            </a:r>
          </a:p>
          <a:p xmlns:a="http://schemas.openxmlformats.org/drawingml/2006/main">
            <a:r>
              <a:t>+ logs</a:t>
            </a:r>
          </a:p>
        </p:txBody>
      </p:sp>
      <p:cxnSp>
        <p:nvCxnSpPr>
          <p:cNvPr id="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276350" y="14668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4477AA"/>
            </a:solidFill>
            <a:prstDash val="solid"/>
          </a:ln>
        </p:spPr>
      </p:cxnSp>
      <p:cxnSp>
        <p:nvCxnSpPr>
          <p:cNvPr id="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24100" y="14668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228A8D"/>
            </a:solidFill>
            <a:prstDash val="solid"/>
          </a:ln>
        </p:spPr>
      </p:cxnSp>
      <p:cxnSp>
        <p:nvCxnSpPr>
          <p:cNvPr id="1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543300" y="14668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A61E"/>
            </a:solidFill>
            <a:prstDash val="solid"/>
          </a:ln>
        </p:spPr>
      </p:cxnSp>
      <p:sp>
        <p:nvSpPr>
          <p:cNvPr id="11" name="panel-b">
            <a:extLst xmlns:a="http://schemas.openxmlformats.org/drawingml/2006/main">
              <a:ext uri="{FF2B5EF4-FFF2-40B4-BE49-F238E27FC236}">
                <a16:creationId xmlns:a16="http://schemas.microsoft.com/office/drawing/2014/main" id="{5E763257-2C5C-4BE8-B780-1077910B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0"/>
            <a:ext cx="23812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B. intent/keyword/repeat matrix</a:t>
            </a:r>
          </a:p>
        </p:txBody>
      </p:sp>
      <p:sp>
        <p:nvSpPr>
          <p:cNvPr id="12" name="matrix-shell">
            <a:extLst xmlns:a="http://schemas.openxmlformats.org/drawingml/2006/main">
              <a:ext uri="{FF2B5EF4-FFF2-40B4-BE49-F238E27FC236}">
                <a16:creationId xmlns:a16="http://schemas.microsoft.com/office/drawing/2014/main" id="{11BC2CFF-2438-4ACE-B4DB-A721CAA7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432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BF7"/>
          </a:solidFill>
          <a:ln xmlns:a="http://schemas.openxmlformats.org/drawingml/2006/main" w="10478">
            <a:solidFill>
              <a:srgbClr val="1B2A3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matrix-0">
            <a:extLst xmlns:a="http://schemas.openxmlformats.org/drawingml/2006/main">
              <a:ext uri="{FF2B5EF4-FFF2-40B4-BE49-F238E27FC236}">
                <a16:creationId xmlns:a16="http://schemas.microsoft.com/office/drawing/2014/main" id="{07011579-53F8-4345-9160-7C58FD85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871538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participants</a:t>
            </a:r>
          </a:p>
        </p:txBody>
      </p:sp>
      <p:sp>
        <p:nvSpPr>
          <p:cNvPr id="14" name="matrix-participants-placeholder">
            <a:extLst xmlns:a="http://schemas.openxmlformats.org/drawingml/2006/main">
              <a:ext uri="{FF2B5EF4-FFF2-40B4-BE49-F238E27FC236}">
                <a16:creationId xmlns:a16="http://schemas.microsoft.com/office/drawing/2014/main" id="{04AA6AE1-ABF9-4292-8C7B-8402822D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871538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XXX</a:t>
            </a:r>
          </a:p>
        </p:txBody>
      </p:sp>
      <p:sp>
        <p:nvSpPr>
          <p:cNvPr id="15" name="matrix-1">
            <a:extLst xmlns:a="http://schemas.openxmlformats.org/drawingml/2006/main">
              <a:ext uri="{FF2B5EF4-FFF2-40B4-BE49-F238E27FC236}">
                <a16:creationId xmlns:a16="http://schemas.microsoft.com/office/drawing/2014/main" id="{62CB3AF9-E347-4B53-9667-76B65E5E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88" y="2914650"/>
            <a:ext cx="871538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intents</a:t>
            </a:r>
          </a:p>
        </p:txBody>
      </p:sp>
      <p:sp>
        <p:nvSpPr>
          <p:cNvPr id="16" name="matrix-2">
            <a:extLst xmlns:a="http://schemas.openxmlformats.org/drawingml/2006/main">
              <a:ext uri="{FF2B5EF4-FFF2-40B4-BE49-F238E27FC236}">
                <a16:creationId xmlns:a16="http://schemas.microsoft.com/office/drawing/2014/main" id="{4A8D98DA-8EB0-4615-B822-7A51E60C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914650"/>
            <a:ext cx="871538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 keywords</a:t>
            </a:r>
          </a:p>
        </p:txBody>
      </p:sp>
      <p:sp>
        <p:nvSpPr>
          <p:cNvPr id="17" name="matrix-3">
            <a:extLst xmlns:a="http://schemas.openxmlformats.org/drawingml/2006/main">
              <a:ext uri="{FF2B5EF4-FFF2-40B4-BE49-F238E27FC236}">
                <a16:creationId xmlns:a16="http://schemas.microsoft.com/office/drawing/2014/main" id="{43B99D10-87BC-4135-B366-DB716293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2914650"/>
            <a:ext cx="871538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 repeats</a:t>
            </a:r>
          </a:p>
        </p:txBody>
      </p:sp>
      <p:sp>
        <p:nvSpPr>
          <p:cNvPr id="18" name="prompt-factor-note">
            <a:extLst xmlns:a="http://schemas.openxmlformats.org/drawingml/2006/main">
              <a:ext uri="{FF2B5EF4-FFF2-40B4-BE49-F238E27FC236}">
                <a16:creationId xmlns:a16="http://schemas.microsoft.com/office/drawing/2014/main" id="{E15E6105-E529-436B-BFBF-0DB50F0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05200"/>
            <a:ext cx="4095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factors only: participant, intent, keyword, repeat.</a:t>
            </a:r>
          </a:p>
        </p:txBody>
      </p:sp>
      <p:sp>
        <p:nvSpPr>
          <p:cNvPr id="19" name="panel-c">
            <a:extLst xmlns:a="http://schemas.openxmlformats.org/drawingml/2006/main">
              <a:ext uri="{FF2B5EF4-FFF2-40B4-BE49-F238E27FC236}">
                <a16:creationId xmlns:a16="http://schemas.microsoft.com/office/drawing/2014/main" id="{E6403527-7E69-49D8-8149-E386B674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838200"/>
            <a:ext cx="16192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C. result summary</a:t>
            </a:r>
          </a:p>
        </p:txBody>
      </p:sp>
      <p:sp>
        <p:nvSpPr>
          <p:cNvPr id="20" name="metric-name-0">
            <a:extLst xmlns:a="http://schemas.openxmlformats.org/drawingml/2006/main">
              <a:ext uri="{FF2B5EF4-FFF2-40B4-BE49-F238E27FC236}">
                <a16:creationId xmlns:a16="http://schemas.microsoft.com/office/drawing/2014/main" id="{6C878558-F3F5-4F08-A310-64DFBD87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200150"/>
            <a:ext cx="2476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accuracy</a:t>
            </a:r>
          </a:p>
        </p:txBody>
      </p:sp>
      <p:sp>
        <p:nvSpPr>
          <p:cNvPr id="21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B22FD148-A51D-411A-85E2-938B0931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200150"/>
            <a:ext cx="5143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XXX</a:t>
            </a:r>
          </a:p>
        </p:txBody>
      </p:sp>
      <p:sp>
        <p:nvSpPr>
          <p:cNvPr id="22" name="metric-name-1">
            <a:extLst xmlns:a="http://schemas.openxmlformats.org/drawingml/2006/main">
              <a:ext uri="{FF2B5EF4-FFF2-40B4-BE49-F238E27FC236}">
                <a16:creationId xmlns:a16="http://schemas.microsoft.com/office/drawing/2014/main" id="{652ECA7E-CB81-4887-BF4E-17982C89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562100"/>
            <a:ext cx="2476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emergency recall</a:t>
            </a:r>
          </a:p>
        </p:txBody>
      </p:sp>
      <p:sp>
        <p:nvSpPr>
          <p:cNvPr id="23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01B8C079-98D1-4E80-BF85-12346625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62100"/>
            <a:ext cx="5143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XXX</a:t>
            </a:r>
          </a:p>
        </p:txBody>
      </p:sp>
      <p:sp>
        <p:nvSpPr>
          <p:cNvPr id="24" name="metric-name-2">
            <a:extLst xmlns:a="http://schemas.openxmlformats.org/drawingml/2006/main">
              <a:ext uri="{FF2B5EF4-FFF2-40B4-BE49-F238E27FC236}">
                <a16:creationId xmlns:a16="http://schemas.microsoft.com/office/drawing/2014/main" id="{0BDB6D72-66C9-4F1F-8EF4-B1EB3F52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24050"/>
            <a:ext cx="2476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unknown false event rate</a:t>
            </a:r>
          </a:p>
        </p:txBody>
      </p:sp>
      <p:sp>
        <p:nvSpPr>
          <p:cNvPr id="25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8E729E35-65EF-4EA3-ABD5-7B1EE250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24050"/>
            <a:ext cx="5143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XXX</a:t>
            </a:r>
          </a:p>
        </p:txBody>
      </p:sp>
      <p:sp>
        <p:nvSpPr>
          <p:cNvPr id="26" name="metric-name-3">
            <a:extLst xmlns:a="http://schemas.openxmlformats.org/drawingml/2006/main">
              <a:ext uri="{FF2B5EF4-FFF2-40B4-BE49-F238E27FC236}">
                <a16:creationId xmlns:a16="http://schemas.microsoft.com/office/drawing/2014/main" id="{28731351-19DF-4E74-8148-28E3D372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2476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embedded/ref. disagreement</a:t>
            </a:r>
          </a:p>
        </p:txBody>
      </p:sp>
      <p:sp>
        <p:nvSpPr>
          <p:cNvPr id="27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E60A0F48-DCCA-4E33-AAA1-7FF1B9E4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86000"/>
            <a:ext cx="5143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XXX</a:t>
            </a:r>
          </a:p>
        </p:txBody>
      </p:sp>
      <p:sp>
        <p:nvSpPr>
          <p:cNvPr id="28" name="panel-d">
            <a:extLst xmlns:a="http://schemas.openxmlformats.org/drawingml/2006/main">
              <a:ext uri="{FF2B5EF4-FFF2-40B4-BE49-F238E27FC236}">
                <a16:creationId xmlns:a16="http://schemas.microsoft.com/office/drawing/2014/main" id="{5B82D320-0263-45D7-87AF-B8EF39CF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1714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D. demo/log evidence strip</a:t>
            </a:r>
          </a:p>
        </p:txBody>
      </p:sp>
      <p:sp>
        <p:nvSpPr>
          <p:cNvPr id="29" name="speech-event">
            <a:extLst xmlns:a="http://schemas.openxmlformats.org/drawingml/2006/main">
              <a:ext uri="{FF2B5EF4-FFF2-40B4-BE49-F238E27FC236}">
                <a16:creationId xmlns:a16="http://schemas.microsoft.com/office/drawing/2014/main" id="{59645CC1-DE90-4D43-87C7-097DC34D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62250"/>
            <a:ext cx="7048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0478">
            <a:solidFill>
              <a:srgbClr val="4477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speech</a:t>
            </a:r>
          </a:p>
          <a:p xmlns:a="http://schemas.openxmlformats.org/drawingml/2006/main">
            <a:r>
              <a:t>event</a:t>
            </a:r>
          </a:p>
        </p:txBody>
      </p:sp>
      <p:sp>
        <p:nvSpPr>
          <p:cNvPr id="30" name="intent-event">
            <a:extLst xmlns:a="http://schemas.openxmlformats.org/drawingml/2006/main">
              <a:ext uri="{FF2B5EF4-FFF2-40B4-BE49-F238E27FC236}">
                <a16:creationId xmlns:a16="http://schemas.microsoft.com/office/drawing/2014/main" id="{7F828AEA-4AF3-4E22-9CED-E3B59363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62250"/>
            <a:ext cx="7048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0478">
            <a:solidFill>
              <a:srgbClr val="228A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intent</a:t>
            </a:r>
          </a:p>
          <a:p xmlns:a="http://schemas.openxmlformats.org/drawingml/2006/main">
            <a:r>
              <a:t>event</a:t>
            </a:r>
          </a:p>
        </p:txBody>
      </p:sp>
      <p:sp>
        <p:nvSpPr>
          <p:cNvPr id="31" name="bridge-decision">
            <a:extLst xmlns:a="http://schemas.openxmlformats.org/drawingml/2006/main">
              <a:ext uri="{FF2B5EF4-FFF2-40B4-BE49-F238E27FC236}">
                <a16:creationId xmlns:a16="http://schemas.microsoft.com/office/drawing/2014/main" id="{6BC2F124-C7D8-43E4-AE10-A2FDBB84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62250"/>
            <a:ext cx="7048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0478">
            <a:solidFill>
              <a:srgbClr val="66A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bridge</a:t>
            </a:r>
          </a:p>
          <a:p xmlns:a="http://schemas.openxmlformats.org/drawingml/2006/main">
            <a:r>
              <a:t>decision</a:t>
            </a:r>
          </a:p>
        </p:txBody>
      </p:sp>
      <p:sp>
        <p:nvSpPr>
          <p:cNvPr id="32" name="outcome-log">
            <a:extLst xmlns:a="http://schemas.openxmlformats.org/drawingml/2006/main">
              <a:ext uri="{FF2B5EF4-FFF2-40B4-BE49-F238E27FC236}">
                <a16:creationId xmlns:a16="http://schemas.microsoft.com/office/drawing/2014/main" id="{049A61C2-EC5F-4705-B126-75785BFD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7048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outcome</a:t>
            </a:r>
          </a:p>
          <a:p xmlns:a="http://schemas.openxmlformats.org/drawingml/2006/main">
            <a:r>
              <a:t>log</a:t>
            </a:r>
          </a:p>
        </p:txBody>
      </p:sp>
      <p:cxnSp>
        <p:nvCxnSpPr>
          <p:cNvPr id="33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810250" y="30194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4477AA"/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6724650" y="30194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228A8D"/>
            </a:solidFill>
            <a:prstDash val="solid"/>
          </a:ln>
        </p:spPr>
      </p:cxnSp>
      <p:cxnSp>
        <p:nvCxnSpPr>
          <p:cNvPr id="35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639050" y="30194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A61E"/>
            </a:solidFill>
            <a:prstDash val="solid"/>
          </a:ln>
        </p:spPr>
      </p:cxnSp>
      <p:sp>
        <p:nvSpPr>
          <p:cNvPr id="36" name="takeaway">
            <a:extLst xmlns:a="http://schemas.openxmlformats.org/drawingml/2006/main">
              <a:ext uri="{FF2B5EF4-FFF2-40B4-BE49-F238E27FC236}">
                <a16:creationId xmlns:a16="http://schemas.microsoft.com/office/drawing/2014/main" id="{E6A38AE2-C23B-44C9-84E1-CF4408F5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05200"/>
            <a:ext cx="36195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Takeaway: participant variability is evaluated through controlled prompts and auditable logs.</a:t>
            </a:r>
          </a:p>
        </p:txBody>
      </p:sp>
    </p:spTree>
    <p:extLst>
      <p:ext uri="{BB962C8B-B14F-4D97-AF65-F5344CB8AC3E}">
        <p14:creationId xmlns:p14="http://schemas.microsoft.com/office/powerpoint/2010/main" val="10569080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2026-06-01T19:02:04.1810000Z</dcterms:created>
  <dcterms:modified xsi:type="dcterms:W3CDTF">2026-06-01T19:02:04.1810000Z</dcterms:modified>
</coreProperties>
</file>